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25" roundtripDataSignature="AMtx7mgJ8MADflfPN4i50wNUo5+u1mdS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FF0F761-A4F1-4C94-9B12-C08533644708}">
  <a:tblStyle styleId="{BFF0F761-A4F1-4C94-9B12-C0853364470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Anirudh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Gaella</a:t>
            </a:r>
            <a:endParaRPr/>
          </a:p>
        </p:txBody>
      </p:sp>
      <p:sp>
        <p:nvSpPr>
          <p:cNvPr id="109" name="Google Shape;109;p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400"/>
              <a:buNone/>
            </a:pPr>
            <a:r>
              <a:rPr lang="en-US" sz="1100"/>
              <a:t>Aniruddha reducing any inefficiencies in movement or processing time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Shrijit</a:t>
            </a:r>
            <a:endParaRPr/>
          </a:p>
        </p:txBody>
      </p:sp>
      <p:sp>
        <p:nvSpPr>
          <p:cNvPr id="131" name="Google Shape;131;p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Annirudh</a:t>
            </a:r>
            <a:endParaRPr/>
          </a:p>
        </p:txBody>
      </p:sp>
      <p:sp>
        <p:nvSpPr>
          <p:cNvPr id="151" name="Google Shape;151;p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Annirudh</a:t>
            </a:r>
            <a:endParaRPr/>
          </a:p>
        </p:txBody>
      </p:sp>
      <p:sp>
        <p:nvSpPr>
          <p:cNvPr id="174" name="Google Shape;174;p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Shrijit</a:t>
            </a:r>
            <a:endParaRPr/>
          </a:p>
        </p:txBody>
      </p:sp>
      <p:sp>
        <p:nvSpPr>
          <p:cNvPr id="201" name="Google Shape;201;p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original cordganizer setup was approximately the same time for only two assemblies!! not even including the vision</a:t>
            </a:r>
            <a:endParaRPr/>
          </a:p>
        </p:txBody>
      </p:sp>
      <p:sp>
        <p:nvSpPr>
          <p:cNvPr id="213" name="Google Shape;213;p1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24" name="Google Shape;224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original cordganizer setup was approximately the same time for only two assemblies!! not even including the vision</a:t>
            </a:r>
            <a:endParaRPr/>
          </a:p>
        </p:txBody>
      </p:sp>
      <p:sp>
        <p:nvSpPr>
          <p:cNvPr id="225" name="Google Shape;225;p1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5" name="Google Shape;235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1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49" name="Google Shape;249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1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71" name="Google Shape;271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p14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82" name="Google Shape;282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1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90" name="Google Shape;290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1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99" name="Google Shape;299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0" name="Google Shape;300;p1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07" name="Google Shape;307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p1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0"/>
          <p:cNvSpPr/>
          <p:nvPr/>
        </p:nvSpPr>
        <p:spPr>
          <a:xfrm>
            <a:off x="0" y="17463"/>
            <a:ext cx="9144000" cy="2171700"/>
          </a:xfrm>
          <a:prstGeom prst="rect">
            <a:avLst/>
          </a:prstGeom>
          <a:gradFill>
            <a:gsLst>
              <a:gs pos="0">
                <a:srgbClr val="333333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0"/>
          <p:cNvSpPr txBox="1"/>
          <p:nvPr>
            <p:ph idx="1" type="subTitle"/>
          </p:nvPr>
        </p:nvSpPr>
        <p:spPr>
          <a:xfrm>
            <a:off x="609600" y="2724150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9" name="Google Shape;19;p20"/>
          <p:cNvSpPr txBox="1"/>
          <p:nvPr>
            <p:ph type="ctrTitle"/>
          </p:nvPr>
        </p:nvSpPr>
        <p:spPr>
          <a:xfrm>
            <a:off x="610496" y="1217613"/>
            <a:ext cx="6858000" cy="97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628650" y="361950"/>
            <a:ext cx="78867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628650" y="1352550"/>
            <a:ext cx="78867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0" type="dt"/>
          </p:nvPr>
        </p:nvSpPr>
        <p:spPr>
          <a:xfrm>
            <a:off x="7924800" y="5873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2"/>
          <p:cNvSpPr txBox="1"/>
          <p:nvPr/>
        </p:nvSpPr>
        <p:spPr>
          <a:xfrm>
            <a:off x="555625" y="26988"/>
            <a:ext cx="510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Trustees Presentation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2"/>
          <p:cNvSpPr txBox="1"/>
          <p:nvPr>
            <p:ph type="title"/>
          </p:nvPr>
        </p:nvSpPr>
        <p:spPr>
          <a:xfrm>
            <a:off x="623888" y="1047750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623888" y="3187303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7924800" y="5873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3"/>
          <p:cNvSpPr txBox="1"/>
          <p:nvPr/>
        </p:nvSpPr>
        <p:spPr>
          <a:xfrm>
            <a:off x="555625" y="26988"/>
            <a:ext cx="510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Trustees Presentation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3"/>
          <p:cNvSpPr txBox="1"/>
          <p:nvPr>
            <p:ph type="title"/>
          </p:nvPr>
        </p:nvSpPr>
        <p:spPr>
          <a:xfrm>
            <a:off x="628650" y="666750"/>
            <a:ext cx="78867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628650" y="1369219"/>
            <a:ext cx="3886200" cy="27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4629150" y="1369219"/>
            <a:ext cx="3886200" cy="27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7924800" y="5873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4"/>
          <p:cNvSpPr txBox="1"/>
          <p:nvPr/>
        </p:nvSpPr>
        <p:spPr>
          <a:xfrm>
            <a:off x="555625" y="26988"/>
            <a:ext cx="510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Trustees Presentation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4"/>
          <p:cNvSpPr txBox="1"/>
          <p:nvPr>
            <p:ph type="title"/>
          </p:nvPr>
        </p:nvSpPr>
        <p:spPr>
          <a:xfrm>
            <a:off x="629841" y="147520"/>
            <a:ext cx="78867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24"/>
          <p:cNvSpPr txBox="1"/>
          <p:nvPr>
            <p:ph idx="2" type="body"/>
          </p:nvPr>
        </p:nvSpPr>
        <p:spPr>
          <a:xfrm>
            <a:off x="629842" y="1878806"/>
            <a:ext cx="3868200" cy="22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24"/>
          <p:cNvSpPr txBox="1"/>
          <p:nvPr>
            <p:ph idx="4" type="body"/>
          </p:nvPr>
        </p:nvSpPr>
        <p:spPr>
          <a:xfrm>
            <a:off x="4629150" y="1878807"/>
            <a:ext cx="3887400" cy="22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>
            <a:off x="7924800" y="5873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5"/>
          <p:cNvSpPr txBox="1"/>
          <p:nvPr/>
        </p:nvSpPr>
        <p:spPr>
          <a:xfrm>
            <a:off x="555625" y="26988"/>
            <a:ext cx="510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Trustees Presentation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5"/>
          <p:cNvSpPr txBox="1"/>
          <p:nvPr>
            <p:ph type="title"/>
          </p:nvPr>
        </p:nvSpPr>
        <p:spPr>
          <a:xfrm>
            <a:off x="555625" y="666750"/>
            <a:ext cx="78867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7924800" y="5873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6"/>
          <p:cNvSpPr txBox="1"/>
          <p:nvPr/>
        </p:nvSpPr>
        <p:spPr>
          <a:xfrm>
            <a:off x="555625" y="26988"/>
            <a:ext cx="510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Trustees Presentation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6"/>
          <p:cNvSpPr txBox="1"/>
          <p:nvPr>
            <p:ph idx="10" type="dt"/>
          </p:nvPr>
        </p:nvSpPr>
        <p:spPr>
          <a:xfrm>
            <a:off x="7924800" y="5873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7"/>
          <p:cNvSpPr txBox="1"/>
          <p:nvPr/>
        </p:nvSpPr>
        <p:spPr>
          <a:xfrm>
            <a:off x="555625" y="26988"/>
            <a:ext cx="510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Trustees Presentation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7"/>
          <p:cNvSpPr txBox="1"/>
          <p:nvPr>
            <p:ph type="title"/>
          </p:nvPr>
        </p:nvSpPr>
        <p:spPr>
          <a:xfrm>
            <a:off x="623979" y="590550"/>
            <a:ext cx="29493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" type="body"/>
          </p:nvPr>
        </p:nvSpPr>
        <p:spPr>
          <a:xfrm>
            <a:off x="3887391" y="892969"/>
            <a:ext cx="4629300" cy="3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100"/>
              <a:buChar char="▪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▪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▪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27"/>
          <p:cNvSpPr txBox="1"/>
          <p:nvPr>
            <p:ph idx="2" type="body"/>
          </p:nvPr>
        </p:nvSpPr>
        <p:spPr>
          <a:xfrm>
            <a:off x="629841" y="1695451"/>
            <a:ext cx="29493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27"/>
          <p:cNvSpPr txBox="1"/>
          <p:nvPr>
            <p:ph idx="10" type="dt"/>
          </p:nvPr>
        </p:nvSpPr>
        <p:spPr>
          <a:xfrm>
            <a:off x="7924800" y="5873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8"/>
          <p:cNvSpPr txBox="1"/>
          <p:nvPr/>
        </p:nvSpPr>
        <p:spPr>
          <a:xfrm>
            <a:off x="555625" y="26988"/>
            <a:ext cx="510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Trustees Presentation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8"/>
          <p:cNvSpPr txBox="1"/>
          <p:nvPr>
            <p:ph type="title"/>
          </p:nvPr>
        </p:nvSpPr>
        <p:spPr>
          <a:xfrm>
            <a:off x="629841" y="438150"/>
            <a:ext cx="29493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/>
          <p:nvPr>
            <p:ph idx="2" type="pic"/>
          </p:nvPr>
        </p:nvSpPr>
        <p:spPr>
          <a:xfrm>
            <a:off x="3887391" y="740569"/>
            <a:ext cx="4629300" cy="32790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/>
          <p:nvPr>
            <p:ph idx="1" type="body"/>
          </p:nvPr>
        </p:nvSpPr>
        <p:spPr>
          <a:xfrm>
            <a:off x="629841" y="1543051"/>
            <a:ext cx="29493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28"/>
          <p:cNvSpPr txBox="1"/>
          <p:nvPr>
            <p:ph idx="10" type="dt"/>
          </p:nvPr>
        </p:nvSpPr>
        <p:spPr>
          <a:xfrm>
            <a:off x="7924800" y="5873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9"/>
          <p:cNvSpPr txBox="1"/>
          <p:nvPr/>
        </p:nvSpPr>
        <p:spPr>
          <a:xfrm>
            <a:off x="555625" y="26988"/>
            <a:ext cx="510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Trustees Presentation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9"/>
          <p:cNvSpPr txBox="1"/>
          <p:nvPr>
            <p:ph idx="1" type="body"/>
          </p:nvPr>
        </p:nvSpPr>
        <p:spPr>
          <a:xfrm>
            <a:off x="609600" y="666750"/>
            <a:ext cx="57273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type="title"/>
          </p:nvPr>
        </p:nvSpPr>
        <p:spPr>
          <a:xfrm>
            <a:off x="6477000" y="666750"/>
            <a:ext cx="2514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idx="10" type="dt"/>
          </p:nvPr>
        </p:nvSpPr>
        <p:spPr>
          <a:xfrm>
            <a:off x="7924800" y="5873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628650" y="666750"/>
            <a:ext cx="78867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628650" y="1762125"/>
            <a:ext cx="7886700" cy="21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Char char="▪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Noto Sans Symbols"/>
              <a:buChar char="▪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Noto Sans Symbols"/>
              <a:buChar char="▪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9"/>
          <p:cNvSpPr/>
          <p:nvPr/>
        </p:nvSpPr>
        <p:spPr>
          <a:xfrm>
            <a:off x="1588" y="-4763"/>
            <a:ext cx="9144000" cy="368400"/>
          </a:xfrm>
          <a:prstGeom prst="rect">
            <a:avLst/>
          </a:prstGeom>
          <a:gradFill>
            <a:gsLst>
              <a:gs pos="0">
                <a:srgbClr val="333333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9"/>
          <p:cNvSpPr/>
          <p:nvPr/>
        </p:nvSpPr>
        <p:spPr>
          <a:xfrm>
            <a:off x="555625" y="4433888"/>
            <a:ext cx="46641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Boston University</a:t>
            </a: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School/college name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14;p1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00950" y="4341813"/>
            <a:ext cx="914400" cy="41116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13.jpg"/><Relationship Id="rId7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6.png"/><Relationship Id="rId6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olAvS5JD8J_HvOuNWhCZYXP6_2pxXC2N/view" TargetMode="External"/><Relationship Id="rId4" Type="http://schemas.openxmlformats.org/officeDocument/2006/relationships/image" Target="../media/image10.jpg"/><Relationship Id="rId5" Type="http://schemas.openxmlformats.org/officeDocument/2006/relationships/hyperlink" Target="http://drive.google.com/file/d/1FlQleBYvdyQOrsiqOKPpKuNdkGhZ6ScD/view" TargetMode="External"/><Relationship Id="rId6" Type="http://schemas.openxmlformats.org/officeDocument/2006/relationships/image" Target="../media/image1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Relationship Id="rId4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26.png"/><Relationship Id="rId5" Type="http://schemas.openxmlformats.org/officeDocument/2006/relationships/image" Target="../media/image20.png"/><Relationship Id="rId6" Type="http://schemas.openxmlformats.org/officeDocument/2006/relationships/image" Target="../media/image23.png"/><Relationship Id="rId7" Type="http://schemas.openxmlformats.org/officeDocument/2006/relationships/image" Target="../media/image27.png"/><Relationship Id="rId8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jpg"/><Relationship Id="rId4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drive.google.com/file/d/1ybi-x1I0I9jhS90trinVdjE2EPus8S3v/view" TargetMode="External"/><Relationship Id="rId4" Type="http://schemas.openxmlformats.org/officeDocument/2006/relationships/image" Target="../media/image2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ocs.google.com/spreadsheets/u/0/d/1DIn59gQPAyRrJLW8g785PaI7EzcNPx4fG8IZc5bddbg/edit" TargetMode="External"/><Relationship Id="rId4" Type="http://schemas.openxmlformats.org/officeDocument/2006/relationships/hyperlink" Target="https://learn.bu.edu/webapps/blackboard/content/listContent.jsp?course_id=_160203_1&amp;content_id=_15281652_1" TargetMode="External"/><Relationship Id="rId5" Type="http://schemas.openxmlformats.org/officeDocument/2006/relationships/hyperlink" Target="https://www.researchgate.net/publication/314229791_A_Study_of_the_Effect_of_Cutting_Speed_Feed_Rate_and_depth_of_cut_on_Surface_Roughness_in_the_Milling_Machining" TargetMode="External"/><Relationship Id="rId6" Type="http://schemas.openxmlformats.org/officeDocument/2006/relationships/hyperlink" Target="https://learn-us-east-1-prod-fleet02-xythos.content.blackboardcdn.com/5deff46c33361/64180382?X-Blackboard-S3-Bucket=learn-us-east-1-prod-fleet01-xythos&amp;X-Blackboard-Expiration=1746478800000&amp;X-Blackboard-Signature=VtKUFIXLslPfthdu9AgCaV%2BuZmmWm5FkF%2BBTuLYWUKY%3D&amp;X-Blackboard-Client-Id=100902&amp;X-Blackboard-S3-Region=us-east-1&amp;response-cache-control=private%2C%20max-age%3D21600&amp;response-content-disposition=inline%3B%20filename%2A%3DUTF-8%27%27Cordganizer%2520CIM%2520I%2520Table%2520and%2520Routing%2520Diagram%2520Construction%2520F24%2520Annotated.pdf&amp;response-content-type=application%2Fpdf&amp;X-Amz-Security-Token=IQoJb3JpZ2luX2VjEIn%2F%2F%2F%2F%2F%2F%2F%2F%2F%2FwEaCXVzLWVhc3QtMSJIMEYCIQDPRI6v7tlHZPrV9yByyjyOQzx8kvNKQUJhxCiRm7gZSwIhAIXQ1NYCy8kaOqJewqt8w01w6qnJAT13jx4rSWbt7Yb7KrQFCDEQBBoMNjM1NTY3OTI0MTgzIgy6WNmSSWrtUi2l0hYqkQV69LHFMwpcCT%2B7stchYM7y0A4gAswHZ7IWHOXNwCYAehwn2HFsDLGog3%2Fw6ANuBSgtY6dxkTBkz8B0eH26KNex%2FJN%2F3wim%2FD3psHhHT4Sd6YsDIyUjh6s39BF134msHpkO9KvIoQcd21Tix3QpZJ0HQafHmouDneGDouaxGarMejhPtfCydf4PM5XZh%2FLTI6ZLX8VJkNWCzfNHSQUgpqvyjljoQo3hLZXVBgaRgY7qVLHZv2YHwZpQu8Bf5H8f7YC9Ru6ilqn00xMDBuT5fIpZUFEztNDwwxLHBgrN%2FlKmCGcrnv02I%2ButzcxMcwB4SM6Nzs8l0iVAwJfr7%2FSkZlL8ZtxaeKwzmtQ5jYivyXffSgj9X7DlJWal2vBvlgE0CBRqgGQEpnUkkCAthWP5x1TiriATMxJIrWZ%2BZih6xgEZ1yrrzaQzLZzQqWj1rdqXUvVRLxkjEDjdVm0PkahH78URJj1OrdZ5Epc6Jr%2B7eERpC5l%2BHKhA70Aoq0ld3Ku0mw%2BLdg9bPGPWNcJen0Ya%2F%2Bo%2B2kgWXThRPRuEzxGSyEXDurCCoPO8YhVhaRdrSOGbuMze3GQpOaE1sh3P2MfL9tCaZ4o1jzLB%2BBMVFh6v8VSiEPTW6XUX3%2BlMpnG%2BqPKZ18LfN%2FChXUHGJPKsAtf9I4jDsylBEsLsKmqYYKHFUpJIYF%2B9stc4DTr3ZRJ7J82E5Jpmvn79zvTYPSsb82lyx6Ek8d8Wz4ACbvVQJ%2Bz4ENdHTkbTbhFzzZI6oUNnUB4gbkrr1qNfALE7aPj%2BUDA6k3uMicNOvg%2BIloYKR5eInsrim3XHKPEWphgJCVSdESuQWJlaCeefFrFzKeL9jQYuK7bVOr3jCe6S6sW7693hzeP7MVcwm8XjwAY6sAGwz%2FN96nFvT%2B34Os5qO1cXUF8PtRO7zGUYe5TIckkUsUY0BS9nOgj8h%2B9NbC19o3ydGaI1CrrQAXoZd9rbI%2FE7Ur8zOEoJ%2BGojtmQO3r46gM20AouTvxZkSbP%2Fjhntf9c4Rtlc2J1IWNz%2B4O1%2FrlprPwqQsEbG63iTddHg0NDxJRCyWsywKB6KuylqEnkonhO%2BAnBgof7Y71p6lrQi9CyIxczXVhiAYwXG6yug%2Ba1WbQ%3D%3D&amp;X-Amz-Algorithm=AWS4-HMAC-SHA256&amp;X-Amz-Date=20250505T150000Z&amp;X-Amz-SignedHeaders=host&amp;X-Amz-Expires=21600&amp;X-Amz-Credential=ASIAZH6WM4PLSVFYUOAM%2F20250505%2Fus-east-1%2Fs3%2Faws4_request&amp;X-Amz-Signature=3bd9a333428670162bb752462214e2e93d882a9b7f15fa60295c201a75c8a2b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/>
          <p:nvPr>
            <p:ph type="ctrTitle"/>
          </p:nvPr>
        </p:nvSpPr>
        <p:spPr>
          <a:xfrm>
            <a:off x="214200" y="942625"/>
            <a:ext cx="87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rPr b="1" lang="en-US" sz="2350">
                <a:latin typeface="Times New Roman"/>
                <a:ea typeface="Times New Roman"/>
                <a:cs typeface="Times New Roman"/>
                <a:sym typeface="Times New Roman"/>
              </a:rPr>
              <a:t>BUMES Optimization and Vision </a:t>
            </a:r>
            <a:r>
              <a:rPr b="1" lang="en-US" sz="2350" u="sng">
                <a:latin typeface="Times New Roman"/>
                <a:ea typeface="Times New Roman"/>
                <a:cs typeface="Times New Roman"/>
                <a:sym typeface="Times New Roman"/>
              </a:rPr>
              <a:t>Integration</a:t>
            </a:r>
            <a:r>
              <a:rPr b="1" lang="en-US" sz="2350">
                <a:latin typeface="Times New Roman"/>
                <a:ea typeface="Times New Roman"/>
                <a:cs typeface="Times New Roman"/>
                <a:sym typeface="Times New Roman"/>
              </a:rPr>
              <a:t>- Final Presentation</a:t>
            </a:r>
            <a:endParaRPr b="1" sz="2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5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400">
              <a:highlight>
                <a:schemeClr val="lt1"/>
              </a:highlight>
            </a:endParaRPr>
          </a:p>
        </p:txBody>
      </p:sp>
      <p:sp>
        <p:nvSpPr>
          <p:cNvPr id="83" name="Google Shape;83;p1"/>
          <p:cNvSpPr txBox="1"/>
          <p:nvPr>
            <p:ph idx="1" type="subTitle"/>
          </p:nvPr>
        </p:nvSpPr>
        <p:spPr>
          <a:xfrm>
            <a:off x="368553" y="2571750"/>
            <a:ext cx="84069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Presented by:</a:t>
            </a:r>
            <a:r>
              <a:rPr lang="en-US"/>
              <a:t> Azamat </a:t>
            </a:r>
            <a:r>
              <a:rPr lang="en-US">
                <a:solidFill>
                  <a:srgbClr val="1F1F1F"/>
                </a:solidFill>
                <a:highlight>
                  <a:srgbClr val="F8FAFD"/>
                </a:highlight>
              </a:rPr>
              <a:t>Abdikarimov, </a:t>
            </a:r>
            <a:r>
              <a:rPr lang="en-US"/>
              <a:t>Shrijit Banerjee, Aniruddha Dalal,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Gaella Hawi, Kaleigh Hilal, Anirudh Sundaresan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Tuesday, May 6th, 2025</a:t>
            </a:r>
            <a:endParaRPr/>
          </a:p>
        </p:txBody>
      </p:sp>
      <p:sp>
        <p:nvSpPr>
          <p:cNvPr id="84" name="Google Shape;84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1"/>
          <p:cNvSpPr/>
          <p:nvPr/>
        </p:nvSpPr>
        <p:spPr>
          <a:xfrm>
            <a:off x="506925" y="4425275"/>
            <a:ext cx="2757600" cy="237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85325" y="4413713"/>
            <a:ext cx="24792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Boston University</a:t>
            </a: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College of Engineering</a:t>
            </a:r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title"/>
          </p:nvPr>
        </p:nvSpPr>
        <p:spPr>
          <a:xfrm>
            <a:off x="219700" y="317550"/>
            <a:ext cx="78867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/>
              <a:t>Background and Problem: 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93" name="Google Shape;93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589375" y="4441025"/>
            <a:ext cx="2468400" cy="239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308500" y="4488838"/>
            <a:ext cx="24792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Boston University</a:t>
            </a: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College of Engineering</a:t>
            </a:r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" name="Google Shape;9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4900" y="606563"/>
            <a:ext cx="1928250" cy="16401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" name="Google Shape;97;p2"/>
          <p:cNvCxnSpPr/>
          <p:nvPr/>
        </p:nvCxnSpPr>
        <p:spPr>
          <a:xfrm rot="10800000">
            <a:off x="6573525" y="921875"/>
            <a:ext cx="1019100" cy="264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oval"/>
            <a:tailEnd len="sm" w="sm" type="none"/>
          </a:ln>
        </p:spPr>
      </p:cxnSp>
      <p:sp>
        <p:nvSpPr>
          <p:cNvPr id="98" name="Google Shape;98;p2"/>
          <p:cNvSpPr txBox="1"/>
          <p:nvPr/>
        </p:nvSpPr>
        <p:spPr>
          <a:xfrm>
            <a:off x="6448625" y="2269963"/>
            <a:ext cx="2996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~4 minutes (real milling time)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>
            <p:ph idx="1" type="body"/>
          </p:nvPr>
        </p:nvSpPr>
        <p:spPr>
          <a:xfrm>
            <a:off x="264100" y="1185875"/>
            <a:ext cx="53082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373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B.U.M.E.S (Boston University Manufacturing Execution Software) is a fully automated system for manufacturing and can be used for assembling a cord organizer (also known as a Cordganizer), consisting of two distinct parts:</a:t>
            </a:r>
            <a:endParaRPr sz="1300"/>
          </a:p>
          <a:p>
            <a:pPr indent="0" lvl="0" marL="0" rtl="0" algn="l">
              <a:lnSpc>
                <a:spcPct val="1373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● Lid Piece (1.5” x 3” x 0.25” Polycarbonate)</a:t>
            </a:r>
            <a:endParaRPr sz="1300"/>
          </a:p>
          <a:p>
            <a:pPr indent="0" lvl="0" marL="0" rtl="0" algn="l">
              <a:lnSpc>
                <a:spcPct val="1373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● Base Piece (1.5” x 3” x 1” HDPE) </a:t>
            </a:r>
            <a:endParaRPr sz="1300"/>
          </a:p>
          <a:p>
            <a:pPr indent="0" lvl="0" marL="0" rtl="0" algn="l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lang="en-US" sz="1300"/>
              <a:t>Current Operation Time of BUMES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rgbClr val="333333"/>
              </a:buClr>
              <a:buSzPts val="1300"/>
              <a:buChar char="●"/>
            </a:pPr>
            <a:r>
              <a:rPr lang="en-US" sz="1300">
                <a:highlight>
                  <a:srgbClr val="FFFF00"/>
                </a:highlight>
              </a:rPr>
              <a:t>~24 minutes per cycle of two assemblies </a:t>
            </a:r>
            <a:endParaRPr sz="1700">
              <a:highlight>
                <a:srgbClr val="FFFF00"/>
              </a:highlight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6246325" y="515100"/>
            <a:ext cx="626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6079800" y="4042450"/>
            <a:ext cx="695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7560875" y="4262825"/>
            <a:ext cx="1101000" cy="621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6533275" y="4488854"/>
            <a:ext cx="2996400" cy="507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~6 minutes (real milling time)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4900" y="2981838"/>
            <a:ext cx="2025650" cy="1449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" name="Google Shape;105;p2"/>
          <p:cNvCxnSpPr/>
          <p:nvPr/>
        </p:nvCxnSpPr>
        <p:spPr>
          <a:xfrm flipH="1">
            <a:off x="6721525" y="3852875"/>
            <a:ext cx="414000" cy="435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oval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/>
          <p:nvPr>
            <p:ph type="title"/>
          </p:nvPr>
        </p:nvSpPr>
        <p:spPr>
          <a:xfrm>
            <a:off x="191850" y="511050"/>
            <a:ext cx="31839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BUMES</a:t>
            </a:r>
            <a:endParaRPr/>
          </a:p>
        </p:txBody>
      </p:sp>
      <p:sp>
        <p:nvSpPr>
          <p:cNvPr id="112" name="Google Shape;112;p3"/>
          <p:cNvSpPr txBox="1"/>
          <p:nvPr>
            <p:ph idx="1" type="body"/>
          </p:nvPr>
        </p:nvSpPr>
        <p:spPr>
          <a:xfrm>
            <a:off x="191850" y="1352550"/>
            <a:ext cx="4304400" cy="30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Main goal: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lang="en-US"/>
              <a:t>Increase the throughput by reducing the overall process time of the Cordganizer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/>
              <a:t>Aim 1: Optimize the cordganizer CAD/CAM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/>
              <a:t>Aim 2: Optimize UR and BUMES scripts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3"/>
          <p:cNvSpPr txBox="1"/>
          <p:nvPr>
            <p:ph type="title"/>
          </p:nvPr>
        </p:nvSpPr>
        <p:spPr>
          <a:xfrm>
            <a:off x="4761575" y="511050"/>
            <a:ext cx="31839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Vision </a:t>
            </a:r>
            <a:endParaRPr/>
          </a:p>
        </p:txBody>
      </p:sp>
      <p:sp>
        <p:nvSpPr>
          <p:cNvPr id="115" name="Google Shape;115;p3"/>
          <p:cNvSpPr txBox="1"/>
          <p:nvPr>
            <p:ph idx="1" type="body"/>
          </p:nvPr>
        </p:nvSpPr>
        <p:spPr>
          <a:xfrm>
            <a:off x="4839600" y="1352550"/>
            <a:ext cx="4304400" cy="29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Main goal: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FF0000"/>
                </a:solidFill>
              </a:rPr>
              <a:t>Integrated vision with BUMES</a:t>
            </a:r>
            <a:endParaRPr>
              <a:solidFill>
                <a:srgbClr val="FF0000"/>
              </a:solidFill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/>
              <a:t>Aim 3: Use camera and UR to sort assembled Cordganizers into two different bins based on their color. 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/>
              <a:t>Sorting process using vision and OpenCV library</a:t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506925" y="4425275"/>
            <a:ext cx="2757600" cy="237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785325" y="4413713"/>
            <a:ext cx="24792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Boston University</a:t>
            </a: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College of Engineering</a:t>
            </a:r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/>
          <p:nvPr>
            <p:ph type="ctrTitle"/>
          </p:nvPr>
        </p:nvSpPr>
        <p:spPr>
          <a:xfrm>
            <a:off x="610496" y="1217613"/>
            <a:ext cx="6858000" cy="97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Project Scope And Goal</a:t>
            </a:r>
            <a:endParaRPr/>
          </a:p>
        </p:txBody>
      </p:sp>
      <p:sp>
        <p:nvSpPr>
          <p:cNvPr id="124" name="Google Shape;124;p4"/>
          <p:cNvSpPr txBox="1"/>
          <p:nvPr>
            <p:ph idx="1" type="subTitle"/>
          </p:nvPr>
        </p:nvSpPr>
        <p:spPr>
          <a:xfrm>
            <a:off x="610500" y="2571750"/>
            <a:ext cx="7427700" cy="17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/>
              <a:t>Optimize BUMES</a:t>
            </a:r>
            <a:r>
              <a:rPr lang="en-US" sz="1900"/>
              <a:t> to </a:t>
            </a:r>
            <a:r>
              <a:rPr b="1" lang="en-US" sz="1900"/>
              <a:t>enhance throughput</a:t>
            </a:r>
            <a:r>
              <a:rPr lang="en-US" sz="1900"/>
              <a:t> and utilize vision system as a post-manufacturing process that </a:t>
            </a:r>
            <a:r>
              <a:rPr b="1" lang="en-US" sz="1900"/>
              <a:t>automatically identifies and sorts</a:t>
            </a:r>
            <a:r>
              <a:rPr lang="en-US" sz="1900"/>
              <a:t> machined parts into two distinct categories based on color.</a:t>
            </a:r>
            <a:endParaRPr/>
          </a:p>
        </p:txBody>
      </p:sp>
      <p:sp>
        <p:nvSpPr>
          <p:cNvPr id="125" name="Google Shape;125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589375" y="4441025"/>
            <a:ext cx="2468400" cy="239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339650" y="4488838"/>
            <a:ext cx="24792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Boston University</a:t>
            </a: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College of Engineering</a:t>
            </a:r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/>
          <p:nvPr>
            <p:ph type="title"/>
          </p:nvPr>
        </p:nvSpPr>
        <p:spPr>
          <a:xfrm>
            <a:off x="179125" y="396525"/>
            <a:ext cx="78867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Aim 1: CAD - Design Iterations</a:t>
            </a:r>
            <a:endParaRPr/>
          </a:p>
        </p:txBody>
      </p:sp>
      <p:sp>
        <p:nvSpPr>
          <p:cNvPr id="134" name="Google Shape;134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5" name="Google Shape;1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700" y="1152399"/>
            <a:ext cx="1745400" cy="148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5575" y="2735688"/>
            <a:ext cx="2025650" cy="1449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/>
          <p:nvPr/>
        </p:nvSpPr>
        <p:spPr>
          <a:xfrm>
            <a:off x="2281725" y="1738050"/>
            <a:ext cx="717000" cy="299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2411225" y="3310713"/>
            <a:ext cx="717000" cy="299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5"/>
          <p:cNvPicPr preferRelativeResize="0"/>
          <p:nvPr/>
        </p:nvPicPr>
        <p:blipFill rotWithShape="1">
          <a:blip r:embed="rId5">
            <a:alphaModFix/>
          </a:blip>
          <a:srcRect b="50955" l="0" r="32591" t="0"/>
          <a:stretch/>
        </p:blipFill>
        <p:spPr>
          <a:xfrm rot="10800000">
            <a:off x="3237200" y="1393475"/>
            <a:ext cx="2025649" cy="98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5"/>
          <p:cNvPicPr preferRelativeResize="0"/>
          <p:nvPr/>
        </p:nvPicPr>
        <p:blipFill rotWithShape="1">
          <a:blip r:embed="rId5">
            <a:alphaModFix/>
          </a:blip>
          <a:srcRect b="0" l="32591" r="0" t="42568"/>
          <a:stretch/>
        </p:blipFill>
        <p:spPr>
          <a:xfrm>
            <a:off x="3237200" y="2881588"/>
            <a:ext cx="2025649" cy="115797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/>
          <p:nvPr/>
        </p:nvSpPr>
        <p:spPr>
          <a:xfrm>
            <a:off x="5262850" y="1738050"/>
            <a:ext cx="717000" cy="299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5262850" y="3310725"/>
            <a:ext cx="717000" cy="299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6038200" y="592900"/>
            <a:ext cx="2268900" cy="3711600"/>
          </a:xfrm>
          <a:prstGeom prst="roundRect">
            <a:avLst>
              <a:gd fmla="val 1059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6038200" y="592900"/>
            <a:ext cx="2268900" cy="7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Final CAD Models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525700" y="4436488"/>
            <a:ext cx="2479200" cy="26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Boston University</a:t>
            </a: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College of Engineering</a:t>
            </a:r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6" name="Google Shape;146;p5" title="IMG_3964.jpeg"/>
          <p:cNvPicPr preferRelativeResize="0"/>
          <p:nvPr/>
        </p:nvPicPr>
        <p:blipFill rotWithShape="1">
          <a:blip r:embed="rId6">
            <a:alphaModFix/>
          </a:blip>
          <a:srcRect b="25751" l="11204" r="10270" t="23042"/>
          <a:stretch/>
        </p:blipFill>
        <p:spPr>
          <a:xfrm>
            <a:off x="6361662" y="2735700"/>
            <a:ext cx="1489501" cy="1271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5" title="IMG_3963.jpeg"/>
          <p:cNvPicPr preferRelativeResize="0"/>
          <p:nvPr/>
        </p:nvPicPr>
        <p:blipFill rotWithShape="1">
          <a:blip r:embed="rId7">
            <a:alphaModFix/>
          </a:blip>
          <a:srcRect b="28733" l="17557" r="9887" t="17787"/>
          <a:stretch/>
        </p:blipFill>
        <p:spPr>
          <a:xfrm>
            <a:off x="6355174" y="1105926"/>
            <a:ext cx="1502473" cy="1449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 txBox="1"/>
          <p:nvPr>
            <p:ph type="title"/>
          </p:nvPr>
        </p:nvSpPr>
        <p:spPr>
          <a:xfrm>
            <a:off x="238600" y="409925"/>
            <a:ext cx="78867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Aim 1: CAM - Body								Lid</a:t>
            </a:r>
            <a:endParaRPr/>
          </a:p>
        </p:txBody>
      </p:sp>
      <p:sp>
        <p:nvSpPr>
          <p:cNvPr id="154" name="Google Shape;154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589375" y="4441025"/>
            <a:ext cx="2468400" cy="239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401650" y="4488838"/>
            <a:ext cx="24792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Boston University</a:t>
            </a: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College of Engineering</a:t>
            </a:r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401650" y="4749850"/>
            <a:ext cx="3695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[3] Most Up to Date Cordganizer CAD/CAM/GCode Files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327325" y="1071400"/>
            <a:ext cx="3984600" cy="18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rounded slot is included on the top surface of the central raised section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cylindrical pegs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Diameter of the peg - 0.20 in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Depth of cutting - 3.5 in for the channel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Cutting feed rate - 35.2 in/min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 of tool change - 2 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 txBox="1"/>
          <p:nvPr/>
        </p:nvSpPr>
        <p:spPr>
          <a:xfrm>
            <a:off x="424000" y="4090500"/>
            <a:ext cx="36087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Figure: CAM Simulation – Body Machining Time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 txBox="1"/>
          <p:nvPr/>
        </p:nvSpPr>
        <p:spPr>
          <a:xfrm>
            <a:off x="2615575" y="3831650"/>
            <a:ext cx="5487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5075" y="2820500"/>
            <a:ext cx="1931675" cy="103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9725" y="2820500"/>
            <a:ext cx="1774400" cy="103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6"/>
          <p:cNvSpPr txBox="1"/>
          <p:nvPr/>
        </p:nvSpPr>
        <p:spPr>
          <a:xfrm>
            <a:off x="652600" y="38575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 txBox="1"/>
          <p:nvPr/>
        </p:nvSpPr>
        <p:spPr>
          <a:xfrm>
            <a:off x="5168575" y="1030800"/>
            <a:ext cx="3578100" cy="29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 txBox="1"/>
          <p:nvPr/>
        </p:nvSpPr>
        <p:spPr>
          <a:xfrm>
            <a:off x="4876250" y="1030800"/>
            <a:ext cx="3779700" cy="20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Diameter of the hole - 0.205 in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Depth of the slot - 0.03 in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 of tool change - 1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47425" y="2723001"/>
            <a:ext cx="1751083" cy="103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60400" y="2723000"/>
            <a:ext cx="1982791" cy="103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 txBox="1"/>
          <p:nvPr/>
        </p:nvSpPr>
        <p:spPr>
          <a:xfrm>
            <a:off x="5127925" y="3877025"/>
            <a:ext cx="12606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5453200" y="37051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Old                                                New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 txBox="1"/>
          <p:nvPr/>
        </p:nvSpPr>
        <p:spPr>
          <a:xfrm>
            <a:off x="5159950" y="3923925"/>
            <a:ext cx="377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Figure: CAM Simulation – Lid Machining Time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"/>
          <p:cNvSpPr txBox="1"/>
          <p:nvPr>
            <p:ph type="title"/>
          </p:nvPr>
        </p:nvSpPr>
        <p:spPr>
          <a:xfrm>
            <a:off x="238600" y="409925"/>
            <a:ext cx="78867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CAM Videos</a:t>
            </a:r>
            <a:endParaRPr/>
          </a:p>
        </p:txBody>
      </p:sp>
      <p:sp>
        <p:nvSpPr>
          <p:cNvPr id="177" name="Google Shape;177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589375" y="4441025"/>
            <a:ext cx="2468400" cy="239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"/>
          <p:cNvSpPr txBox="1"/>
          <p:nvPr/>
        </p:nvSpPr>
        <p:spPr>
          <a:xfrm>
            <a:off x="401650" y="4488838"/>
            <a:ext cx="24792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Boston University</a:t>
            </a: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College of Engineering</a:t>
            </a:r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7"/>
          <p:cNvSpPr txBox="1"/>
          <p:nvPr/>
        </p:nvSpPr>
        <p:spPr>
          <a:xfrm>
            <a:off x="401650" y="4749850"/>
            <a:ext cx="3695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[3] Most Up to Date Cordganizer CAD/CAM/GCode Files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7"/>
          <p:cNvSpPr txBox="1"/>
          <p:nvPr/>
        </p:nvSpPr>
        <p:spPr>
          <a:xfrm>
            <a:off x="747644" y="3811288"/>
            <a:ext cx="29952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Lid Part Machining – CAM Simulation Video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7" title="Lid_1 - Made with Clipchamp_1746505941123.m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625" y="1067199"/>
            <a:ext cx="4277851" cy="2744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7" title="Body_2 - Made with Clipchamp_1746507049775.mp4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07825" y="1000250"/>
            <a:ext cx="4290250" cy="293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7"/>
          <p:cNvSpPr txBox="1"/>
          <p:nvPr/>
        </p:nvSpPr>
        <p:spPr>
          <a:xfrm>
            <a:off x="5192775" y="3994850"/>
            <a:ext cx="348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Body Part Machining – CAM Simulation Video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/>
          <p:nvPr/>
        </p:nvSpPr>
        <p:spPr>
          <a:xfrm>
            <a:off x="644275" y="4435000"/>
            <a:ext cx="2418600" cy="214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 txBox="1"/>
          <p:nvPr>
            <p:ph type="title"/>
          </p:nvPr>
        </p:nvSpPr>
        <p:spPr>
          <a:xfrm>
            <a:off x="232200" y="361950"/>
            <a:ext cx="82830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CAM Calculations</a:t>
            </a:r>
            <a:endParaRPr/>
          </a:p>
        </p:txBody>
      </p:sp>
      <p:sp>
        <p:nvSpPr>
          <p:cNvPr id="192" name="Google Shape;192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3" name="Google Shape;193;p8"/>
          <p:cNvSpPr txBox="1"/>
          <p:nvPr/>
        </p:nvSpPr>
        <p:spPr>
          <a:xfrm>
            <a:off x="232200" y="1106600"/>
            <a:ext cx="8806500" cy="37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Feed rate(F</a:t>
            </a:r>
            <a:r>
              <a:rPr b="0" baseline="-25000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 </a:t>
            </a:r>
            <a:r>
              <a:rPr b="0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) =  n * z * F</a:t>
            </a:r>
            <a:r>
              <a:rPr b="0" baseline="-25000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</a:t>
            </a:r>
            <a:endParaRPr b="0" baseline="-25000" i="0" sz="13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where,</a:t>
            </a:r>
            <a:endParaRPr b="0" i="0" sz="13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F</a:t>
            </a:r>
            <a:r>
              <a:rPr b="0" baseline="-25000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int​</a:t>
            </a:r>
            <a:r>
              <a:rPr b="0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=F</a:t>
            </a:r>
            <a:r>
              <a:rPr b="0" baseline="-25000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</a:t>
            </a:r>
            <a:r>
              <a:rPr b="0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= Feed rate (in/min) = 52.8 in/min</a:t>
            </a:r>
            <a:br>
              <a:rPr b="0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0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n = 6000RPM</a:t>
            </a:r>
            <a:br>
              <a:rPr b="0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0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z = number of teeth = 1</a:t>
            </a:r>
            <a:br>
              <a:rPr b="0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0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F</a:t>
            </a:r>
            <a:r>
              <a:rPr b="0" baseline="-25000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t​</a:t>
            </a:r>
            <a:r>
              <a:rPr b="0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= feed per tooth (in/tooth) </a:t>
            </a:r>
            <a:endParaRPr b="0" i="0" sz="13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h = ratio of the height = 0.667in</a:t>
            </a:r>
            <a:endParaRPr b="0" i="0" sz="13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Calculating the initial feed per tooth:</a:t>
            </a:r>
            <a:endParaRPr b="0" i="0" sz="13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F</a:t>
            </a:r>
            <a:r>
              <a:rPr b="0" baseline="-25000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t-original​</a:t>
            </a:r>
            <a:r>
              <a:rPr b="0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= F</a:t>
            </a:r>
            <a:r>
              <a:rPr b="0" baseline="-25000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m-int </a:t>
            </a:r>
            <a:r>
              <a:rPr b="0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/ n *z = 52.8/ 1 *6000 =0.0088 in/tooth</a:t>
            </a:r>
            <a:endParaRPr b="0" i="0" sz="13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Calculating the new feed per tooth:</a:t>
            </a:r>
            <a:endParaRPr b="0" i="0" sz="13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F</a:t>
            </a:r>
            <a:r>
              <a:rPr b="0" baseline="-25000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t-new</a:t>
            </a:r>
            <a:r>
              <a:rPr b="0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= h * F</a:t>
            </a:r>
            <a:r>
              <a:rPr b="0" baseline="-25000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t-original​ </a:t>
            </a:r>
            <a:r>
              <a:rPr b="0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= 0.667 * 0.0088 = 0.0058696 in/tooth</a:t>
            </a:r>
            <a:endParaRPr b="0" i="0" sz="13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Calculating the new feed rate:</a:t>
            </a:r>
            <a:endParaRPr b="0" i="0" sz="13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F</a:t>
            </a:r>
            <a:r>
              <a:rPr b="0" baseline="-25000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m-new </a:t>
            </a:r>
            <a:r>
              <a:rPr b="0" i="0" lang="en-US" sz="13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= 6000 * 1 * 0.0058= 35.2 in/min</a:t>
            </a:r>
            <a:endParaRPr b="0" i="0" sz="15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94" name="Google Shape;19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5397" y="824400"/>
            <a:ext cx="1587925" cy="234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1374" y="1466461"/>
            <a:ext cx="1437100" cy="155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8"/>
          <p:cNvSpPr txBox="1"/>
          <p:nvPr/>
        </p:nvSpPr>
        <p:spPr>
          <a:xfrm>
            <a:off x="6954925" y="3256875"/>
            <a:ext cx="21504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Feed and Speed Parameters for CNC Machining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8"/>
          <p:cNvSpPr txBox="1"/>
          <p:nvPr/>
        </p:nvSpPr>
        <p:spPr>
          <a:xfrm>
            <a:off x="5626550" y="3024375"/>
            <a:ext cx="5487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"/>
          <p:cNvSpPr txBox="1"/>
          <p:nvPr>
            <p:ph idx="12" type="sldNum"/>
          </p:nvPr>
        </p:nvSpPr>
        <p:spPr>
          <a:xfrm>
            <a:off x="8556775" y="4846450"/>
            <a:ext cx="5487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04" name="Google Shape;204;p9"/>
          <p:cNvGraphicFramePr/>
          <p:nvPr/>
        </p:nvGraphicFramePr>
        <p:xfrm>
          <a:off x="123588" y="455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{BFF0F761-A4F1-4C94-9B12-C08533644708}</a:tableStyleId>
              </a:tblPr>
              <a:tblGrid>
                <a:gridCol w="1482800"/>
                <a:gridCol w="1482800"/>
                <a:gridCol w="1455525"/>
                <a:gridCol w="382850"/>
                <a:gridCol w="1813125"/>
                <a:gridCol w="2279725"/>
              </a:tblGrid>
              <a:tr h="494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Old Lid</a:t>
                      </a:r>
                      <a:endParaRPr sz="1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New Lid</a:t>
                      </a:r>
                      <a:endParaRPr sz="1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Old Body</a:t>
                      </a:r>
                      <a:endParaRPr sz="1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New Body</a:t>
                      </a:r>
                      <a:endParaRPr sz="1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  <a:tr h="117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CAD</a:t>
                      </a:r>
                      <a:endParaRPr sz="1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  <a:tr h="180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CAM Processes</a:t>
                      </a:r>
                      <a:endParaRPr sz="1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Facing, Four Holes, Four Chamfers</a:t>
                      </a:r>
                      <a:endParaRPr sz="1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Pocket Milling, Two Holes, Two Chamfers</a:t>
                      </a:r>
                      <a:endParaRPr sz="1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Step-Down Milling (2 passes), Deep Pocket Milling (2 passes, Cord Channel), Four Chamfers</a:t>
                      </a:r>
                      <a:endParaRPr sz="1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Roughing (1 pass), Deep Pocket Milling (1 pass, Cord Channel), Slot Perimeter, Two Chamfers</a:t>
                      </a:r>
                      <a:endParaRPr sz="1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  <a:tr h="920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Time</a:t>
                      </a:r>
                      <a:endParaRPr sz="1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3 minutes, 45 seconds ± 3 seconds</a:t>
                      </a:r>
                      <a:endParaRPr sz="1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 minute, 45 seconds </a:t>
                      </a: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± 3 seconds</a:t>
                      </a:r>
                      <a:endParaRPr sz="1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6 minutes, 24 seconds </a:t>
                      </a: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± 3 seconds</a:t>
                      </a:r>
                      <a:endParaRPr sz="1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3 minutes, 16 seconds </a:t>
                      </a: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± 3 seconds</a:t>
                      </a:r>
                      <a:endParaRPr sz="14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05" name="Google Shape;20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1100" y="969758"/>
            <a:ext cx="1311625" cy="1115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9"/>
          <p:cNvPicPr preferRelativeResize="0"/>
          <p:nvPr/>
        </p:nvPicPr>
        <p:blipFill rotWithShape="1">
          <a:blip r:embed="rId4">
            <a:alphaModFix/>
          </a:blip>
          <a:srcRect b="0" l="8381" r="0" t="0"/>
          <a:stretch/>
        </p:blipFill>
        <p:spPr>
          <a:xfrm>
            <a:off x="5121375" y="998663"/>
            <a:ext cx="1354251" cy="105785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9"/>
          <p:cNvSpPr txBox="1"/>
          <p:nvPr/>
        </p:nvSpPr>
        <p:spPr>
          <a:xfrm>
            <a:off x="123600" y="4864438"/>
            <a:ext cx="24792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Boston University</a:t>
            </a: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College of Engineering</a:t>
            </a:r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8" name="Google Shape;20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30450" y="998675"/>
            <a:ext cx="1894824" cy="105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70500" y="1105068"/>
            <a:ext cx="1311625" cy="845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"/>
          <p:cNvSpPr txBox="1"/>
          <p:nvPr>
            <p:ph type="title"/>
          </p:nvPr>
        </p:nvSpPr>
        <p:spPr>
          <a:xfrm>
            <a:off x="112900" y="-193850"/>
            <a:ext cx="37341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lt1"/>
                </a:solidFill>
              </a:rPr>
              <a:t>Aim 2: BUMES Process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6" name="Google Shape;216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511925" y="4356250"/>
            <a:ext cx="2468400" cy="39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0"/>
          <p:cNvSpPr txBox="1"/>
          <p:nvPr/>
        </p:nvSpPr>
        <p:spPr>
          <a:xfrm>
            <a:off x="607050" y="4749838"/>
            <a:ext cx="24792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Boston University</a:t>
            </a: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College of Engineering</a:t>
            </a:r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10"/>
          <p:cNvSpPr txBox="1"/>
          <p:nvPr/>
        </p:nvSpPr>
        <p:spPr>
          <a:xfrm>
            <a:off x="0" y="3341600"/>
            <a:ext cx="7151100" cy="277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BUMES cycle → 4 cordganizers + vision + sorting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time: </a:t>
            </a: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24.6 minutes</a:t>
            </a: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 individual programs to achieve system optimization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Letter and number code in script name to decrease confusion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Alternate machining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Could run infinitely after including Rosie+Vision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25704"/>
            <a:ext cx="9143998" cy="2592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4796" y="374646"/>
            <a:ext cx="2479200" cy="762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"/>
          <p:cNvSpPr txBox="1"/>
          <p:nvPr>
            <p:ph type="title"/>
          </p:nvPr>
        </p:nvSpPr>
        <p:spPr>
          <a:xfrm>
            <a:off x="112900" y="-193850"/>
            <a:ext cx="37341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lt1"/>
                </a:solidFill>
              </a:rPr>
              <a:t>New Routing Diagram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8" name="Google Shape;228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511925" y="4356250"/>
            <a:ext cx="2468400" cy="39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1"/>
          <p:cNvSpPr txBox="1"/>
          <p:nvPr/>
        </p:nvSpPr>
        <p:spPr>
          <a:xfrm>
            <a:off x="607050" y="4749838"/>
            <a:ext cx="24792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Boston University</a:t>
            </a: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College of Engineering</a:t>
            </a:r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11"/>
          <p:cNvSpPr txBox="1"/>
          <p:nvPr/>
        </p:nvSpPr>
        <p:spPr>
          <a:xfrm>
            <a:off x="0" y="4179800"/>
            <a:ext cx="7151100" cy="277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Simplifying Assumptions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Round manufacturing steps to nearest 5s interval.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Neglect step 1 – Initialize system (&lt;5s)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" name="Google Shape;23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175" y="359350"/>
            <a:ext cx="7787650" cy="366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"/>
          <p:cNvSpPr txBox="1"/>
          <p:nvPr>
            <p:ph type="title"/>
          </p:nvPr>
        </p:nvSpPr>
        <p:spPr>
          <a:xfrm>
            <a:off x="628650" y="361950"/>
            <a:ext cx="78867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Improvements</a:t>
            </a:r>
            <a:endParaRPr/>
          </a:p>
        </p:txBody>
      </p:sp>
      <p:sp>
        <p:nvSpPr>
          <p:cNvPr id="239" name="Google Shape;239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0" name="Google Shape;240;p12"/>
          <p:cNvSpPr/>
          <p:nvPr/>
        </p:nvSpPr>
        <p:spPr>
          <a:xfrm>
            <a:off x="625975" y="1100300"/>
            <a:ext cx="3445800" cy="2474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Old Cordganizer Process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Mfg, Operation Time: 11.9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minutes/Cordganizer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40% value added time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Throughput Time: 11.9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minutes/Cordganizer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5069550" y="1100300"/>
            <a:ext cx="3445800" cy="2474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Cordganizer Process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Mfg. Operation Time: 10.3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minutes/Cordganizer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72% value added time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Throughput Time: 7.2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minutes/Cordganizer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3976575" y="1740250"/>
            <a:ext cx="1190862" cy="1081026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2"/>
          <p:cNvSpPr txBox="1"/>
          <p:nvPr/>
        </p:nvSpPr>
        <p:spPr>
          <a:xfrm>
            <a:off x="617350" y="3235975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[5]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2"/>
          <p:cNvSpPr txBox="1"/>
          <p:nvPr/>
        </p:nvSpPr>
        <p:spPr>
          <a:xfrm>
            <a:off x="634425" y="3540025"/>
            <a:ext cx="3437400" cy="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~24 minutes to make and assemble 2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2"/>
          <p:cNvSpPr txBox="1"/>
          <p:nvPr/>
        </p:nvSpPr>
        <p:spPr>
          <a:xfrm>
            <a:off x="5073750" y="3616225"/>
            <a:ext cx="3483000" cy="141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19.4 minutes to make and assemble 4* → </a:t>
            </a:r>
            <a:r>
              <a:rPr b="1" i="0" lang="en-US" sz="18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150% increase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*alternate machining achieved steady state and decreased overall time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596575" y="4375700"/>
            <a:ext cx="2429100" cy="39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"/>
          <p:cNvSpPr txBox="1"/>
          <p:nvPr>
            <p:ph idx="1" type="body"/>
          </p:nvPr>
        </p:nvSpPr>
        <p:spPr>
          <a:xfrm>
            <a:off x="178525" y="462350"/>
            <a:ext cx="72222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Aim 3: Vision-Based Part Identification and Sorting</a:t>
            </a:r>
            <a:endParaRPr sz="2200"/>
          </a:p>
          <a:p>
            <a:pPr indent="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500"/>
          </a:p>
        </p:txBody>
      </p:sp>
      <p:sp>
        <p:nvSpPr>
          <p:cNvPr id="253" name="Google Shape;25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4" name="Google Shape;254;p13"/>
          <p:cNvSpPr/>
          <p:nvPr/>
        </p:nvSpPr>
        <p:spPr>
          <a:xfrm>
            <a:off x="589375" y="4441025"/>
            <a:ext cx="2468400" cy="239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3"/>
          <p:cNvSpPr txBox="1"/>
          <p:nvPr/>
        </p:nvSpPr>
        <p:spPr>
          <a:xfrm>
            <a:off x="583975" y="4488838"/>
            <a:ext cx="24792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Boston University</a:t>
            </a: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College of Engineering</a:t>
            </a:r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6" name="Google Shape;2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725" y="1509200"/>
            <a:ext cx="3167700" cy="51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10525" y="1527248"/>
            <a:ext cx="2386625" cy="549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4164" y="2611513"/>
            <a:ext cx="2386625" cy="6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10525" y="2562750"/>
            <a:ext cx="2386625" cy="116477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3"/>
          <p:cNvSpPr txBox="1"/>
          <p:nvPr/>
        </p:nvSpPr>
        <p:spPr>
          <a:xfrm>
            <a:off x="335325" y="2026100"/>
            <a:ext cx="28179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Connection to UR and gripper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Google Shape;261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12213" y="1543450"/>
            <a:ext cx="1787775" cy="51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39725" y="2512300"/>
            <a:ext cx="3167700" cy="116478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3"/>
          <p:cNvSpPr txBox="1"/>
          <p:nvPr/>
        </p:nvSpPr>
        <p:spPr>
          <a:xfrm>
            <a:off x="414625" y="3716825"/>
            <a:ext cx="28179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Waypoints (x, y, z, rx, ry, rz)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3"/>
          <p:cNvSpPr txBox="1"/>
          <p:nvPr/>
        </p:nvSpPr>
        <p:spPr>
          <a:xfrm>
            <a:off x="6297138" y="3372925"/>
            <a:ext cx="28179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Pose to joints conversion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3"/>
          <p:cNvSpPr txBox="1"/>
          <p:nvPr/>
        </p:nvSpPr>
        <p:spPr>
          <a:xfrm>
            <a:off x="4157250" y="2085875"/>
            <a:ext cx="21399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Gripper’s switch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3"/>
          <p:cNvSpPr txBox="1"/>
          <p:nvPr/>
        </p:nvSpPr>
        <p:spPr>
          <a:xfrm>
            <a:off x="4033912" y="3771700"/>
            <a:ext cx="21399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Colour classification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3"/>
          <p:cNvSpPr txBox="1"/>
          <p:nvPr/>
        </p:nvSpPr>
        <p:spPr>
          <a:xfrm>
            <a:off x="6636162" y="2095775"/>
            <a:ext cx="21399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Camera toggle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3"/>
          <p:cNvSpPr txBox="1"/>
          <p:nvPr/>
        </p:nvSpPr>
        <p:spPr>
          <a:xfrm>
            <a:off x="753637" y="4071413"/>
            <a:ext cx="21399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5" name="Google Shape;275;p14"/>
          <p:cNvSpPr txBox="1"/>
          <p:nvPr/>
        </p:nvSpPr>
        <p:spPr>
          <a:xfrm>
            <a:off x="0" y="386500"/>
            <a:ext cx="7216800" cy="13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Aim 3: Vision-Based Part Identification and Sorting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9700" y="1248850"/>
            <a:ext cx="3701426" cy="2776047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4"/>
          <p:cNvSpPr txBox="1"/>
          <p:nvPr/>
        </p:nvSpPr>
        <p:spPr>
          <a:xfrm>
            <a:off x="4754813" y="4024900"/>
            <a:ext cx="42912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Sorting bins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8" name="Google Shape;27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950" y="1634154"/>
            <a:ext cx="4153900" cy="787126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4"/>
          <p:cNvSpPr txBox="1"/>
          <p:nvPr/>
        </p:nvSpPr>
        <p:spPr>
          <a:xfrm>
            <a:off x="0" y="2701525"/>
            <a:ext cx="50118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_mesProcess.py → _mesVision_test.py → Vision_system.py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5"/>
          <p:cNvSpPr txBox="1"/>
          <p:nvPr>
            <p:ph type="title"/>
          </p:nvPr>
        </p:nvSpPr>
        <p:spPr>
          <a:xfrm>
            <a:off x="63475" y="264525"/>
            <a:ext cx="78867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Video of the entire process (BUMES+VISION) </a:t>
            </a:r>
            <a:endParaRPr/>
          </a:p>
        </p:txBody>
      </p:sp>
      <p:sp>
        <p:nvSpPr>
          <p:cNvPr id="286" name="Google Shape;286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7" name="Google Shape;287;p15" title="BUMES.m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275" y="899300"/>
            <a:ext cx="7384800" cy="415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"/>
          <p:cNvSpPr txBox="1"/>
          <p:nvPr>
            <p:ph type="title"/>
          </p:nvPr>
        </p:nvSpPr>
        <p:spPr>
          <a:xfrm>
            <a:off x="19050" y="209550"/>
            <a:ext cx="78867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Limitations and Future Work</a:t>
            </a:r>
            <a:endParaRPr/>
          </a:p>
        </p:txBody>
      </p:sp>
      <p:sp>
        <p:nvSpPr>
          <p:cNvPr id="294" name="Google Shape;294;p16"/>
          <p:cNvSpPr txBox="1"/>
          <p:nvPr>
            <p:ph idx="1" type="body"/>
          </p:nvPr>
        </p:nvSpPr>
        <p:spPr>
          <a:xfrm>
            <a:off x="49800" y="1035900"/>
            <a:ext cx="9044400" cy="30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lang="en-US"/>
              <a:t>Limitations: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/>
              <a:t>Camera and lighting issues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/>
              <a:t>No built in wait() capability between operations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lang="en-US"/>
              <a:t>Future Work: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/>
              <a:t>Optimize CAM for exclusively snap fit; reduce milling times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/>
              <a:t>Eliminate burring; add finishing passes or decrease milling feed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/>
              <a:t>Implement more vision features (size, holes, details etc)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/>
              <a:t>Include data collection and tracking</a:t>
            </a:r>
            <a:endParaRPr/>
          </a:p>
        </p:txBody>
      </p:sp>
      <p:sp>
        <p:nvSpPr>
          <p:cNvPr id="295" name="Google Shape;295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6" name="Google Shape;296;p16"/>
          <p:cNvSpPr txBox="1"/>
          <p:nvPr/>
        </p:nvSpPr>
        <p:spPr>
          <a:xfrm>
            <a:off x="555025" y="4417513"/>
            <a:ext cx="2479200" cy="26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Boston University</a:t>
            </a: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College of Engineering</a:t>
            </a:r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>
                <a:highlight>
                  <a:schemeClr val="lt1"/>
                </a:highlight>
              </a:rPr>
              <a:t>‹#›</a:t>
            </a:fld>
            <a:endParaRPr>
              <a:highlight>
                <a:schemeClr val="lt1"/>
              </a:highlight>
            </a:endParaRPr>
          </a:p>
        </p:txBody>
      </p:sp>
      <p:pic>
        <p:nvPicPr>
          <p:cNvPr id="303" name="Google Shape;30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000" y="381225"/>
            <a:ext cx="8466274" cy="4762276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7"/>
          <p:cNvSpPr txBox="1"/>
          <p:nvPr/>
        </p:nvSpPr>
        <p:spPr>
          <a:xfrm>
            <a:off x="1827325" y="-43225"/>
            <a:ext cx="55758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They said we couldn’t do it, so we did:)</a:t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"/>
          <p:cNvSpPr txBox="1"/>
          <p:nvPr>
            <p:ph type="title"/>
          </p:nvPr>
        </p:nvSpPr>
        <p:spPr>
          <a:xfrm>
            <a:off x="628650" y="361950"/>
            <a:ext cx="78867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311" name="Google Shape;311;p18"/>
          <p:cNvSpPr txBox="1"/>
          <p:nvPr>
            <p:ph idx="1" type="body"/>
          </p:nvPr>
        </p:nvSpPr>
        <p:spPr>
          <a:xfrm>
            <a:off x="628650" y="1352550"/>
            <a:ext cx="83388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[1]: Lab 4: Computer Integrated Manufacturing (CIM)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lang="en-US"/>
              <a:t>[2]: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BUMES Runs Data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lang="en-US"/>
              <a:t>[3]: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Most Up to Date Cordganizer CAD/CAM/GCode Files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lang="en-US"/>
              <a:t>[4]:</a:t>
            </a:r>
            <a:r>
              <a:rPr lang="en-US" u="sng">
                <a:solidFill>
                  <a:schemeClr val="hlink"/>
                </a:solidFill>
                <a:hlinkClick r:id="rId5"/>
              </a:rPr>
              <a:t>Feed Rate in CNC Machining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lang="en-US"/>
              <a:t>[5]: </a:t>
            </a:r>
            <a:r>
              <a:rPr lang="en-US" u="sng">
                <a:solidFill>
                  <a:schemeClr val="hlink"/>
                </a:solidFill>
                <a:hlinkClick r:id="rId6"/>
              </a:rPr>
              <a:t>Cordganizer CIM I Table and Routing Diagram Construction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lang="en-US" sz="1400"/>
              <a:t>Thank you to Adam, Ben, Megha, and the other BUMES teams!</a:t>
            </a:r>
            <a:endParaRPr sz="1400"/>
          </a:p>
        </p:txBody>
      </p:sp>
      <p:sp>
        <p:nvSpPr>
          <p:cNvPr id="312" name="Google Shape;312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3" name="Google Shape;313;p18"/>
          <p:cNvSpPr/>
          <p:nvPr/>
        </p:nvSpPr>
        <p:spPr>
          <a:xfrm>
            <a:off x="589375" y="4441025"/>
            <a:ext cx="2468400" cy="239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8"/>
          <p:cNvSpPr txBox="1"/>
          <p:nvPr/>
        </p:nvSpPr>
        <p:spPr>
          <a:xfrm>
            <a:off x="857250" y="4308138"/>
            <a:ext cx="24792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Boston University</a:t>
            </a: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College of Engineering</a:t>
            </a:r>
            <a:endParaRPr b="0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ank Presentation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